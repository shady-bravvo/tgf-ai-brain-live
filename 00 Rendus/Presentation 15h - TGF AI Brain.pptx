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min. Le concept : pendant que vous écoutiez, une IA écoutait aussi. Poser le décor : tout ce qui suit a été produit AUJOURD'HUI, pendant les sessions du matin. Rien n'était écrit hier soir.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30 sec max, ne pas s'attarder sur la technique. Message : rien n'est magique, tout est préparé. La valeur est dans ce qui suit.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min. Lire les 3 messages clés, puis UN verbatim maximum à voix haute. Les autres restent à l'écran.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min. Les chiffres impressionnent par leur simple existence : c'était impossible il y a 2 ans.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min. Bascule vers le dashboard dans le navigateur (onglet DÉJÀ ouvert, testé à 14h45). Phrase clé : « voilà de quoi VOUS avez parlé ce matin — pas ce qu'on avait prévu que vous diriez. »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min. Navigation courte et répétée à l'avance : thème → session → speaker → citation. Ne pas improviser le chemin.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 min — LE moment fort. 1 question live + inviter la salle à scanner. Si le chatbot déraille : captures d'écran des réponses de 14h30 en secours (plan de repli 2.5). Insérer le vrai QR code à J-3 quand l'URL est figée.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min. Annonce finale + QR code du site. Le mot de la fin : « l'ATUGE repart avec son Forum capitalisé — rien de ce qui s'est dit aujourd'hui ne sera perdu. »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GF">
    <p:bg>
      <p:bgPr>
        <a:solidFill>
          <a:srgbClr val="0B223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8FB3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TUNISIA GLOBAL FORUM 2026 — AI BRAIN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31520" y="1463040"/>
            <a:ext cx="107259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spc="300" kern="0" dirty="0">
                <a:solidFill>
                  <a:srgbClr val="F5F8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TUNISIA GL</a:t>
            </a:r>
            <a:pPr algn="ctr" indent="0" marL="0">
              <a:buNone/>
            </a:pPr>
            <a:r>
              <a:rPr lang="en-US" sz="4800" b="1" spc="300" kern="0" dirty="0">
                <a:solidFill>
                  <a:srgbClr val="E700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</a:t>
            </a:r>
            <a:pPr algn="ctr" indent="0" marL="0">
              <a:buNone/>
            </a:pPr>
            <a:r>
              <a:rPr lang="en-US" sz="4800" b="1" spc="300" kern="0" dirty="0">
                <a:solidFill>
                  <a:srgbClr val="F5F8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BAL FORUM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731520" y="2423160"/>
            <a:ext cx="107259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spc="600" kern="0" dirty="0">
                <a:solidFill>
                  <a:srgbClr val="7FC4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BRAIN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731520" y="3749040"/>
            <a:ext cx="107259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F5F8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 Pendant que vous écoutiez, une IA écoutait aussi. »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645920" y="4480560"/>
            <a:ext cx="88971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FB3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 que le Forum a dit ce matin — capté, transcrit, structuré et interrogeable. En direct.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8FB3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TUNISIA GLOBAL FORUM 2026 — AI BRAIN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320040"/>
            <a:ext cx="112745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5F8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Comment ça marche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7FC4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pipeline posé à l'avance — le contenu du Forum coule dedans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2606040" cy="3108960"/>
          </a:xfrm>
          <a:prstGeom prst="roundRect">
            <a:avLst>
              <a:gd name="adj" fmla="val 3509"/>
            </a:avLst>
          </a:prstGeom>
          <a:solidFill>
            <a:srgbClr val="12314E"/>
          </a:solidFill>
          <a:ln w="12700">
            <a:solidFill>
              <a:srgbClr val="1F4A7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531620" y="2148840"/>
            <a:ext cx="640080" cy="640080"/>
          </a:xfrm>
          <a:prstGeom prst="ellipse">
            <a:avLst/>
          </a:prstGeom>
          <a:solidFill>
            <a:srgbClr val="E70013"/>
          </a:solidFill>
          <a:ln/>
        </p:spPr>
      </p:sp>
      <p:sp>
        <p:nvSpPr>
          <p:cNvPr id="7" name="Text 5"/>
          <p:cNvSpPr/>
          <p:nvPr/>
        </p:nvSpPr>
        <p:spPr>
          <a:xfrm>
            <a:off x="1531620" y="21488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548640" y="292608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7FC4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Captation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731520" y="3429000"/>
            <a:ext cx="2240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5F8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Sortie ligne des sonos,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F5F8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salles en continu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411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70013"/>
                </a:solidFill>
              </a:rPr>
              <a:t>→</a:t>
            </a:r>
            <a:endParaRPr lang="en-US" sz="2400" dirty="0"/>
          </a:p>
        </p:txBody>
      </p:sp>
      <p:sp>
        <p:nvSpPr>
          <p:cNvPr id="11" name="Shape 9"/>
          <p:cNvSpPr/>
          <p:nvPr/>
        </p:nvSpPr>
        <p:spPr>
          <a:xfrm>
            <a:off x="3429000" y="1828800"/>
            <a:ext cx="2606040" cy="3108960"/>
          </a:xfrm>
          <a:prstGeom prst="roundRect">
            <a:avLst>
              <a:gd name="adj" fmla="val 3509"/>
            </a:avLst>
          </a:prstGeom>
          <a:solidFill>
            <a:srgbClr val="12314E"/>
          </a:solidFill>
          <a:ln w="12700">
            <a:solidFill>
              <a:srgbClr val="1F4A7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411980" y="2148840"/>
            <a:ext cx="640080" cy="640080"/>
          </a:xfrm>
          <a:prstGeom prst="ellipse">
            <a:avLst/>
          </a:prstGeom>
          <a:solidFill>
            <a:srgbClr val="E70013"/>
          </a:solidFill>
          <a:ln/>
        </p:spPr>
      </p:sp>
      <p:sp>
        <p:nvSpPr>
          <p:cNvPr id="13" name="Text 11"/>
          <p:cNvSpPr/>
          <p:nvPr/>
        </p:nvSpPr>
        <p:spPr>
          <a:xfrm>
            <a:off x="4411980" y="21488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3429000" y="292608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7FC4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Transcription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3611880" y="3429000"/>
            <a:ext cx="2240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5F8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cloud, FR / derja / EN,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F5F8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chunks de 20-30 min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5989320" y="3108960"/>
            <a:ext cx="411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70013"/>
                </a:solidFill>
              </a:rPr>
              <a:t>→</a:t>
            </a:r>
            <a:endParaRPr lang="en-US" sz="2400" dirty="0"/>
          </a:p>
        </p:txBody>
      </p:sp>
      <p:sp>
        <p:nvSpPr>
          <p:cNvPr id="17" name="Shape 15"/>
          <p:cNvSpPr/>
          <p:nvPr/>
        </p:nvSpPr>
        <p:spPr>
          <a:xfrm>
            <a:off x="6309360" y="1828800"/>
            <a:ext cx="2606040" cy="3108960"/>
          </a:xfrm>
          <a:prstGeom prst="roundRect">
            <a:avLst>
              <a:gd name="adj" fmla="val 3509"/>
            </a:avLst>
          </a:prstGeom>
          <a:solidFill>
            <a:srgbClr val="12314E"/>
          </a:solidFill>
          <a:ln w="12700">
            <a:solidFill>
              <a:srgbClr val="1F4A7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292340" y="2148840"/>
            <a:ext cx="640080" cy="640080"/>
          </a:xfrm>
          <a:prstGeom prst="ellipse">
            <a:avLst/>
          </a:prstGeom>
          <a:solidFill>
            <a:srgbClr val="E70013"/>
          </a:solidFill>
          <a:ln/>
        </p:spPr>
      </p:sp>
      <p:sp>
        <p:nvSpPr>
          <p:cNvPr id="19" name="Text 17"/>
          <p:cNvSpPr/>
          <p:nvPr/>
        </p:nvSpPr>
        <p:spPr>
          <a:xfrm>
            <a:off x="7292340" y="21488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6309360" y="292608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7FC4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Structuration</a:t>
            </a:r>
            <a:endParaRPr lang="en-US" sz="1900" dirty="0"/>
          </a:p>
        </p:txBody>
      </p:sp>
      <p:sp>
        <p:nvSpPr>
          <p:cNvPr id="21" name="Text 19"/>
          <p:cNvSpPr/>
          <p:nvPr/>
        </p:nvSpPr>
        <p:spPr>
          <a:xfrm>
            <a:off x="6492240" y="3429000"/>
            <a:ext cx="2240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5F8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extrait idées, citations,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F5F8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recommandations → notes liées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8869680" y="3108960"/>
            <a:ext cx="411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70013"/>
                </a:solidFill>
              </a:rPr>
              <a:t>→</a:t>
            </a:r>
            <a:endParaRPr lang="en-US" sz="2400" dirty="0"/>
          </a:p>
        </p:txBody>
      </p:sp>
      <p:sp>
        <p:nvSpPr>
          <p:cNvPr id="23" name="Shape 21"/>
          <p:cNvSpPr/>
          <p:nvPr/>
        </p:nvSpPr>
        <p:spPr>
          <a:xfrm>
            <a:off x="9189720" y="1828800"/>
            <a:ext cx="2606040" cy="3108960"/>
          </a:xfrm>
          <a:prstGeom prst="roundRect">
            <a:avLst>
              <a:gd name="adj" fmla="val 3509"/>
            </a:avLst>
          </a:prstGeom>
          <a:solidFill>
            <a:srgbClr val="12314E"/>
          </a:solidFill>
          <a:ln w="12700">
            <a:solidFill>
              <a:srgbClr val="1F4A7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0172700" y="2148840"/>
            <a:ext cx="640080" cy="640080"/>
          </a:xfrm>
          <a:prstGeom prst="ellipse">
            <a:avLst/>
          </a:prstGeom>
          <a:solidFill>
            <a:srgbClr val="E70013"/>
          </a:solidFill>
          <a:ln/>
        </p:spPr>
      </p:sp>
      <p:sp>
        <p:nvSpPr>
          <p:cNvPr id="25" name="Text 23"/>
          <p:cNvSpPr/>
          <p:nvPr/>
        </p:nvSpPr>
        <p:spPr>
          <a:xfrm>
            <a:off x="10172700" y="21488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600" dirty="0"/>
          </a:p>
        </p:txBody>
      </p:sp>
      <p:sp>
        <p:nvSpPr>
          <p:cNvPr id="26" name="Text 24"/>
          <p:cNvSpPr/>
          <p:nvPr/>
        </p:nvSpPr>
        <p:spPr>
          <a:xfrm>
            <a:off x="9189720" y="292608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7FC4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Restitution</a:t>
            </a:r>
            <a:endParaRPr lang="en-US" sz="1900" dirty="0"/>
          </a:p>
        </p:txBody>
      </p:sp>
      <p:sp>
        <p:nvSpPr>
          <p:cNvPr id="27" name="Text 25"/>
          <p:cNvSpPr/>
          <p:nvPr/>
        </p:nvSpPr>
        <p:spPr>
          <a:xfrm>
            <a:off x="9372600" y="3429000"/>
            <a:ext cx="2240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5F8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Site, dashboard, graphe,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F5F8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chatbot — mis à jour en continu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8FB3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TUNISIA GLOBAL FORUM 2026 — AI BRAIN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320040"/>
            <a:ext cx="112745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5F8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 que le Forum a dit ce matin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7FC4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recap — généré depuis les transcripts, relu par un humain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6949440" cy="4480560"/>
          </a:xfrm>
          <a:prstGeom prst="roundRect">
            <a:avLst>
              <a:gd name="adj" fmla="val 1633"/>
            </a:avLst>
          </a:prstGeom>
          <a:solidFill>
            <a:srgbClr val="12314E">
              <a:alpha val="60000"/>
            </a:srgbClr>
          </a:solidFill>
          <a:ln w="19050">
            <a:solidFill>
              <a:srgbClr val="F5A623"/>
            </a:solidFill>
            <a:prstDash val="dash"/>
          </a:ln>
        </p:spPr>
      </p:sp>
      <p:sp>
        <p:nvSpPr>
          <p:cNvPr id="6" name="Text 4"/>
          <p:cNvSpPr/>
          <p:nvPr/>
        </p:nvSpPr>
        <p:spPr>
          <a:xfrm>
            <a:off x="594360" y="1554480"/>
            <a:ext cx="667512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JOUR J — </a:t>
            </a:r>
            <a:pPr algn="ctr" indent="0" marL="0">
              <a:buNone/>
            </a:pPr>
            <a:r>
              <a:rPr lang="en-US" sz="1300" dirty="0">
                <a:solidFill>
                  <a:srgbClr val="8FB3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Coller ici les 3 messages clés du recap (générés à 14h, content freeze)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7680960" y="1554480"/>
            <a:ext cx="4023360" cy="4480560"/>
          </a:xfrm>
          <a:prstGeom prst="roundRect">
            <a:avLst>
              <a:gd name="adj" fmla="val 2273"/>
            </a:avLst>
          </a:prstGeom>
          <a:solidFill>
            <a:srgbClr val="12314E"/>
          </a:solidFill>
          <a:ln w="19050">
            <a:solidFill>
              <a:srgbClr val="E7001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955280" y="178308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700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Verbatims du matin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955280" y="2286000"/>
            <a:ext cx="356616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5F8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[JOUR J — 2 à 3 citations fortes, avec nom du speaker]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i="1" dirty="0">
                <a:solidFill>
                  <a:srgbClr val="F5F8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Ex. de format :</a:t>
            </a:r>
            <a:endParaRPr lang="en-US" sz="1300" dirty="0"/>
          </a:p>
          <a:p>
            <a:pPr indent="0" marL="0">
              <a:buNone/>
            </a:pPr>
            <a:r>
              <a:rPr lang="en-US" sz="1300" i="1" dirty="0">
                <a:solidFill>
                  <a:srgbClr val="F5F8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 La question n'est pas de savoir si la Tunisie adoptera l'IA, mais si elle la subira ou la façonnera. »</a:t>
            </a:r>
            <a:endParaRPr lang="en-US" sz="1300" dirty="0"/>
          </a:p>
          <a:p>
            <a:pPr indent="0" marL="0">
              <a:buNone/>
            </a:pPr>
            <a:r>
              <a:rPr lang="en-US" sz="1300" i="1" dirty="0">
                <a:solidFill>
                  <a:srgbClr val="F5F8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N. Boujemaa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8FB3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TUNISIA GLOBAL FORUM 2026 — AI BRAIN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320040"/>
            <a:ext cx="112745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5F8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Une matinée, en chiffres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7FC4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Tout ceci a été produit entre 9h et 14h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48640" y="2377440"/>
            <a:ext cx="2103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[N]</a:t>
            </a:r>
            <a:endParaRPr lang="en-US" sz="6400" dirty="0"/>
          </a:p>
        </p:txBody>
      </p:sp>
      <p:sp>
        <p:nvSpPr>
          <p:cNvPr id="6" name="Text 4"/>
          <p:cNvSpPr/>
          <p:nvPr/>
        </p:nvSpPr>
        <p:spPr>
          <a:xfrm>
            <a:off x="548640" y="356616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FB3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sessions captées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834640" y="2377440"/>
            <a:ext cx="2103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[N]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834640" y="356616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FB3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speakers entendus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120640" y="2377440"/>
            <a:ext cx="2103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[N]</a:t>
            </a:r>
            <a:endParaRPr lang="en-US" sz="6400" dirty="0"/>
          </a:p>
        </p:txBody>
      </p:sp>
      <p:sp>
        <p:nvSpPr>
          <p:cNvPr id="10" name="Text 8"/>
          <p:cNvSpPr/>
          <p:nvPr/>
        </p:nvSpPr>
        <p:spPr>
          <a:xfrm>
            <a:off x="5120640" y="356616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FB3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idées structurées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406640" y="2377440"/>
            <a:ext cx="2103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[N]</a:t>
            </a:r>
            <a:endParaRPr lang="en-US" sz="6400" dirty="0"/>
          </a:p>
        </p:txBody>
      </p:sp>
      <p:sp>
        <p:nvSpPr>
          <p:cNvPr id="12" name="Text 10"/>
          <p:cNvSpPr/>
          <p:nvPr/>
        </p:nvSpPr>
        <p:spPr>
          <a:xfrm>
            <a:off x="7406640" y="356616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FB3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citations mémorables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9692640" y="2377440"/>
            <a:ext cx="2103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[N]</a:t>
            </a:r>
            <a:endParaRPr lang="en-US" sz="6400" dirty="0"/>
          </a:p>
        </p:txBody>
      </p:sp>
      <p:sp>
        <p:nvSpPr>
          <p:cNvPr id="14" name="Text 12"/>
          <p:cNvSpPr/>
          <p:nvPr/>
        </p:nvSpPr>
        <p:spPr>
          <a:xfrm>
            <a:off x="9692640" y="356616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FB3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recommandations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828800" y="5120640"/>
            <a:ext cx="85313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JOUR J — remplacer les [N] par les chiffres de dashboard-data.json (générés à 14h)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8FB3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TUNISIA GLOBAL FORUM 2026 — AI BRAIN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320040"/>
            <a:ext cx="112745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5F8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quoi VOUS avez parlé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7FC4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Nuage de tags &amp; dashboard — générés automatiquement des notes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57200" y="1645920"/>
            <a:ext cx="11274552" cy="4206240"/>
          </a:xfrm>
          <a:prstGeom prst="roundRect">
            <a:avLst>
              <a:gd name="adj" fmla="val 2174"/>
            </a:avLst>
          </a:prstGeom>
          <a:solidFill>
            <a:srgbClr val="12314E"/>
          </a:solidFill>
          <a:ln w="25400">
            <a:solidFill>
              <a:srgbClr val="7FC4E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2651760"/>
            <a:ext cx="11274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7FC4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BASCULE LIVE — DASHBOARD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371600" y="3383280"/>
            <a:ext cx="944575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5F8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Ouvrir 00 Rendus/dashboard.html (plein écran, onglet préparé avant 15h)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F5F8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Montrer : le nuage de tags, les thèmes les plus discutés, l'état des sessions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8FB3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TUNISIA GLOBAL FORUM 2026 — AI BRAIN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320040"/>
            <a:ext cx="112745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5F8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 idées sont connectées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7FC4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graphe : sessions, speakers, thèmes, notions — un seul réseau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57200" y="1645920"/>
            <a:ext cx="11274552" cy="4206240"/>
          </a:xfrm>
          <a:prstGeom prst="roundRect">
            <a:avLst>
              <a:gd name="adj" fmla="val 2174"/>
            </a:avLst>
          </a:prstGeom>
          <a:solidFill>
            <a:srgbClr val="12314E"/>
          </a:solidFill>
          <a:ln w="25400">
            <a:solidFill>
              <a:srgbClr val="7FC4E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2651760"/>
            <a:ext cx="11274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7FC4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BASCULE LIVE — GRAPHE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371600" y="3383280"/>
            <a:ext cx="944575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5F8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Ouvrir le graphe (Obsidian ou vue graphe du site) — onglet préparé avant 15h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F5F8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Naviguer 30 secondes : partir d'un thème, remonter à un speaker, à une citation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8FB3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TUNISIA GLOBAL FORUM 2026 — AI BRAIN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320040"/>
            <a:ext cx="112745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5F8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Posez-lui la question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7FC4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Forum est devenu interrogeable — essayez maintenant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57200" y="1645920"/>
            <a:ext cx="7132320" cy="4206240"/>
          </a:xfrm>
          <a:prstGeom prst="roundRect">
            <a:avLst>
              <a:gd name="adj" fmla="val 2174"/>
            </a:avLst>
          </a:prstGeom>
          <a:solidFill>
            <a:srgbClr val="12314E"/>
          </a:solidFill>
          <a:ln w="25400">
            <a:solidFill>
              <a:srgbClr val="E7001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828800"/>
            <a:ext cx="7132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700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DÉMO LIVE DU CHATBOT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914400" y="2468880"/>
            <a:ext cx="621792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F8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question posée en direct devant la salle.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5F8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 de secours (testées à 14h30) 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5F8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[JOUR J — question testée]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5F8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[JOUR J — question testée]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5F8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[JOUR J — question testée]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955280" y="1645920"/>
            <a:ext cx="3749040" cy="4206240"/>
          </a:xfrm>
          <a:prstGeom prst="roundRect">
            <a:avLst>
              <a:gd name="adj" fmla="val 2439"/>
            </a:avLst>
          </a:prstGeom>
          <a:solidFill>
            <a:srgbClr val="FFFFFF"/>
          </a:solidFill>
          <a:ln/>
        </p:spPr>
      </p:sp>
      <p:sp>
        <p:nvSpPr>
          <p:cNvPr id="9" name="Text 7"/>
          <p:cNvSpPr/>
          <p:nvPr/>
        </p:nvSpPr>
        <p:spPr>
          <a:xfrm>
            <a:off x="7955280" y="2926080"/>
            <a:ext cx="3749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22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[QR CODE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b="1" dirty="0">
                <a:solidFill>
                  <a:srgbClr val="0B22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chatbot]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7955280" y="516636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22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À vous : scannez et posez votre question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554480"/>
            <a:ext cx="107259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F8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 soir, tout le Forum sera en ligne.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1645920" y="2468880"/>
            <a:ext cx="88971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8FB3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 compris les sessions de cet après-midi. Recap, feuille de route, graphe, chatbot — et un accès MCP pour brancher le brain à vos outils.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4727448" y="3474720"/>
            <a:ext cx="2743200" cy="219456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/>
        </p:spPr>
      </p:sp>
      <p:sp>
        <p:nvSpPr>
          <p:cNvPr id="5" name="Text 3"/>
          <p:cNvSpPr/>
          <p:nvPr/>
        </p:nvSpPr>
        <p:spPr>
          <a:xfrm>
            <a:off x="4727448" y="420624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22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[QR CODE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0B22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site]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5852160"/>
            <a:ext cx="10725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[JOUR J — URL du site]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31520" y="6309360"/>
            <a:ext cx="107259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F8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TGF AI Brain</a:t>
            </a:r>
            <a:pPr algn="ctr" indent="0" marL="0">
              <a:buNone/>
            </a:pPr>
            <a:r>
              <a:rPr lang="en-US" sz="1200" dirty="0">
                <a:solidFill>
                  <a:srgbClr val="8FB3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·  un pilote Bravvo × ATUGE — conçu pour grandir d'événement en événement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2026-07-16T22:32:19Z</dcterms:created>
  <dcterms:modified xsi:type="dcterms:W3CDTF">2026-07-16T22:32:19Z</dcterms:modified>
</cp:coreProperties>
</file>